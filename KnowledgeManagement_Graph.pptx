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7"/>
    <p:restoredTop sz="94696"/>
  </p:normalViewPr>
  <p:slideViewPr>
    <p:cSldViewPr snapToGrid="0">
      <p:cViewPr>
        <p:scale>
          <a:sx n="82" d="100"/>
          <a:sy n="82" d="100"/>
        </p:scale>
        <p:origin x="5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7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7109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05281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88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10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0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1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3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4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24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33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30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73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82432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30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291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681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32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17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53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877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78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003156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07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0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6FC94CE-0CDF-F649-8883-650C82992423}" type="datetimeFigureOut">
              <a:rPr lang="en-BR" smtClean="0"/>
              <a:t>07/10/26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CE029FE-F639-334E-9D24-17DC5C3F324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3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42739-DBF7-46B3-ADFE-B179B7158D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KMS Dataset Knowledge Graph</a:t>
            </a:r>
            <a:br>
              <a:rPr lang="en-US" dirty="0"/>
            </a:br>
            <a:endParaRPr lang="en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71F67-FD99-CCD4-422C-A2FAE1398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BR" dirty="0"/>
              <a:t>Nilzelly Caroline Martins da Silva</a:t>
            </a:r>
          </a:p>
        </p:txBody>
      </p:sp>
    </p:spTree>
    <p:extLst>
      <p:ext uri="{BB962C8B-B14F-4D97-AF65-F5344CB8AC3E}">
        <p14:creationId xmlns:p14="http://schemas.microsoft.com/office/powerpoint/2010/main" val="1019809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6083-ACC0-3D24-9426-17C58EF20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2B7AB-1145-BB82-4CA8-F374E52E0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63714"/>
            <a:ext cx="11125202" cy="4728524"/>
          </a:xfrm>
        </p:spPr>
        <p:txBody>
          <a:bodyPr/>
          <a:lstStyle/>
          <a:p>
            <a:r>
              <a:rPr lang="en-US" sz="2400" dirty="0"/>
              <a:t>This presentation shows how I turned the GitHub CSV dataset into a small knowledge graph, checked the import and used Cypher queries to understand the study </a:t>
            </a:r>
            <a:r>
              <a:rPr lang="en-US" sz="2400" dirty="0" err="1"/>
              <a:t>programmes</a:t>
            </a:r>
            <a:r>
              <a:rPr lang="en-US" sz="2400" dirty="0"/>
              <a:t>.</a:t>
            </a:r>
          </a:p>
          <a:p>
            <a:r>
              <a:rPr lang="en-BR" sz="2400" dirty="0"/>
              <a:t>My goal was to understand how the CSV files were connected and then build a graph that I could explore with Cypher queries.</a:t>
            </a:r>
            <a:endParaRPr lang="en-US" sz="2400" dirty="0"/>
          </a:p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48133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FDFC-F4DB-8DD0-03A9-CA6747F3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R" sz="32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040E2-12CD-1D8F-B478-104F1BB36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4966065" cy="4728524"/>
          </a:xfrm>
        </p:spPr>
        <p:txBody>
          <a:bodyPr/>
          <a:lstStyle/>
          <a:p>
            <a:r>
              <a:rPr lang="en-US" sz="2000" dirty="0"/>
              <a:t>Explore the dataset from the GitHub repository.</a:t>
            </a:r>
          </a:p>
          <a:p>
            <a:r>
              <a:rPr lang="en-US" sz="2000" dirty="0"/>
              <a:t>Build a graph schema from the node and edge CSV files.</a:t>
            </a:r>
          </a:p>
          <a:p>
            <a:r>
              <a:rPr lang="en-US" sz="2000" dirty="0"/>
              <a:t>Import the graph into Neo4j </a:t>
            </a:r>
            <a:r>
              <a:rPr lang="en-US" sz="2000" dirty="0" err="1"/>
              <a:t>AuraDB</a:t>
            </a:r>
            <a:r>
              <a:rPr lang="en-US" sz="2000" dirty="0"/>
              <a:t> Free.</a:t>
            </a:r>
          </a:p>
          <a:p>
            <a:r>
              <a:rPr lang="en-US" sz="2000" dirty="0"/>
              <a:t>Run Cypher queries and explain what the results mean.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59FA1B-C730-4C1F-653E-026BFF2320E8}"/>
              </a:ext>
            </a:extLst>
          </p:cNvPr>
          <p:cNvSpPr txBox="1">
            <a:spLocks/>
          </p:cNvSpPr>
          <p:nvPr/>
        </p:nvSpPr>
        <p:spPr>
          <a:xfrm>
            <a:off x="5860240" y="1016955"/>
            <a:ext cx="5624004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3200" cap="all" dirty="0">
                <a:latin typeface="+mj-lt"/>
                <a:ea typeface="+mj-ea"/>
              </a:rPr>
              <a:t>Why is a knowledge graph important?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/>
              <a:t>The dataset is about connections: </a:t>
            </a:r>
            <a:r>
              <a:rPr lang="en-US" sz="2000" dirty="0" err="1"/>
              <a:t>programmes</a:t>
            </a:r>
            <a:r>
              <a:rPr lang="en-US" sz="2000" dirty="0"/>
              <a:t> have courses, courses have topics and courses also have learning outcomes. </a:t>
            </a:r>
            <a:r>
              <a:rPr lang="en-BR" sz="2000" dirty="0"/>
              <a:t>Using Neo4j made it easier for me to see how programmes, courses, topics and learning outcomes are connected.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97970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149F-CA2F-89DB-04D9-94761D5E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Dataset and maping idea</a:t>
            </a: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4464A85D-7FA3-99B0-B1CC-86872DD4B485}"/>
              </a:ext>
            </a:extLst>
          </p:cNvPr>
          <p:cNvSpPr/>
          <p:nvPr/>
        </p:nvSpPr>
        <p:spPr>
          <a:xfrm>
            <a:off x="674898" y="196723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Node files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B540208-A225-C4FE-300F-CF4EB82F332E}"/>
              </a:ext>
            </a:extLst>
          </p:cNvPr>
          <p:cNvSpPr/>
          <p:nvPr/>
        </p:nvSpPr>
        <p:spPr>
          <a:xfrm>
            <a:off x="674898" y="2470901"/>
            <a:ext cx="3154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nodes_study_programs.csv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6E27FF2B-32B1-2DA2-B25B-D4857108689F}"/>
              </a:ext>
            </a:extLst>
          </p:cNvPr>
          <p:cNvSpPr/>
          <p:nvPr/>
        </p:nvSpPr>
        <p:spPr>
          <a:xfrm>
            <a:off x="3902730" y="2470901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StudyProgram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120E5A3B-4764-13DF-8F4C-3030ECC9B21A}"/>
              </a:ext>
            </a:extLst>
          </p:cNvPr>
          <p:cNvSpPr/>
          <p:nvPr/>
        </p:nvSpPr>
        <p:spPr>
          <a:xfrm>
            <a:off x="674898" y="2909813"/>
            <a:ext cx="3154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nodes_study_courses.csv</a:t>
            </a: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16B1EFC-AA89-733C-7A06-737A5CF52558}"/>
              </a:ext>
            </a:extLst>
          </p:cNvPr>
          <p:cNvSpPr/>
          <p:nvPr/>
        </p:nvSpPr>
        <p:spPr>
          <a:xfrm>
            <a:off x="3902730" y="2909813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Course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2B7814DA-0AE4-8488-3CF1-0BDB4AF254AE}"/>
              </a:ext>
            </a:extLst>
          </p:cNvPr>
          <p:cNvSpPr/>
          <p:nvPr/>
        </p:nvSpPr>
        <p:spPr>
          <a:xfrm>
            <a:off x="674898" y="3348725"/>
            <a:ext cx="3154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nodes_course_topics.csv</a:t>
            </a: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F98023D6-6E05-96D4-2DD7-3E4F94D77CFB}"/>
              </a:ext>
            </a:extLst>
          </p:cNvPr>
          <p:cNvSpPr/>
          <p:nvPr/>
        </p:nvSpPr>
        <p:spPr>
          <a:xfrm>
            <a:off x="3902730" y="3348725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Topic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8FF4119E-080B-9107-95C1-EA3B557CA83F}"/>
              </a:ext>
            </a:extLst>
          </p:cNvPr>
          <p:cNvSpPr/>
          <p:nvPr/>
        </p:nvSpPr>
        <p:spPr>
          <a:xfrm>
            <a:off x="674898" y="3905016"/>
            <a:ext cx="3154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nodes_learning_outcomes.csv</a:t>
            </a: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3FEEDA69-F1D4-82CF-90A3-54D176C10015}"/>
              </a:ext>
            </a:extLst>
          </p:cNvPr>
          <p:cNvSpPr/>
          <p:nvPr/>
        </p:nvSpPr>
        <p:spPr>
          <a:xfrm>
            <a:off x="3902730" y="3787637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LearningOutcome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376A45D0-A5AE-291F-23D3-A668740C165D}"/>
              </a:ext>
            </a:extLst>
          </p:cNvPr>
          <p:cNvSpPr/>
          <p:nvPr/>
        </p:nvSpPr>
        <p:spPr>
          <a:xfrm>
            <a:off x="674898" y="4427717"/>
            <a:ext cx="3154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nodes_study_fields.csv</a:t>
            </a: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DEA29952-41B7-1C22-57CD-D9DABB41FF53}"/>
              </a:ext>
            </a:extLst>
          </p:cNvPr>
          <p:cNvSpPr/>
          <p:nvPr/>
        </p:nvSpPr>
        <p:spPr>
          <a:xfrm>
            <a:off x="3902730" y="4226549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StudyField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94248CAB-B984-0A30-2D0A-B0263C53C176}"/>
              </a:ext>
            </a:extLst>
          </p:cNvPr>
          <p:cNvSpPr/>
          <p:nvPr/>
        </p:nvSpPr>
        <p:spPr>
          <a:xfrm>
            <a:off x="6371610" y="1964141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Relationship files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F268F991-4DF8-1358-1B3E-A0CDD157AA42}"/>
              </a:ext>
            </a:extLst>
          </p:cNvPr>
          <p:cNvSpPr/>
          <p:nvPr/>
        </p:nvSpPr>
        <p:spPr>
          <a:xfrm>
            <a:off x="6371610" y="2470901"/>
            <a:ext cx="2880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program+course.csv</a:t>
            </a: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FC940F26-8327-267A-C638-0EF472797824}"/>
              </a:ext>
            </a:extLst>
          </p:cNvPr>
          <p:cNvSpPr/>
          <p:nvPr/>
        </p:nvSpPr>
        <p:spPr>
          <a:xfrm>
            <a:off x="9617730" y="2470901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HAS_COURSE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0280FE13-145C-E6DF-4E52-92602D7A6F77}"/>
              </a:ext>
            </a:extLst>
          </p:cNvPr>
          <p:cNvSpPr/>
          <p:nvPr/>
        </p:nvSpPr>
        <p:spPr>
          <a:xfrm>
            <a:off x="6371610" y="2909813"/>
            <a:ext cx="2880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program+study_field.csv</a:t>
            </a: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CEE96C8A-BA86-14AC-4CEA-F25C53C3D304}"/>
              </a:ext>
            </a:extLst>
          </p:cNvPr>
          <p:cNvSpPr/>
          <p:nvPr/>
        </p:nvSpPr>
        <p:spPr>
          <a:xfrm>
            <a:off x="9617730" y="2909813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HAS_STUDY_FIELD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7FE0ECD4-5177-9A8C-1374-B185CA1438E8}"/>
              </a:ext>
            </a:extLst>
          </p:cNvPr>
          <p:cNvSpPr/>
          <p:nvPr/>
        </p:nvSpPr>
        <p:spPr>
          <a:xfrm>
            <a:off x="6371610" y="3348725"/>
            <a:ext cx="2880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course+topic.csv</a:t>
            </a: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A2F4437B-6942-8A85-0E15-254F59303016}"/>
              </a:ext>
            </a:extLst>
          </p:cNvPr>
          <p:cNvSpPr/>
          <p:nvPr/>
        </p:nvSpPr>
        <p:spPr>
          <a:xfrm>
            <a:off x="9617730" y="3348725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HAS_TOPIC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5B51CBE7-DA44-0CDD-ABAE-29FB20187664}"/>
              </a:ext>
            </a:extLst>
          </p:cNvPr>
          <p:cNvSpPr/>
          <p:nvPr/>
        </p:nvSpPr>
        <p:spPr>
          <a:xfrm>
            <a:off x="6341135" y="3911067"/>
            <a:ext cx="2880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course+learning_outcome.csv</a:t>
            </a: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A6598E96-951E-8521-133D-C22A100048F3}"/>
              </a:ext>
            </a:extLst>
          </p:cNvPr>
          <p:cNvSpPr/>
          <p:nvPr/>
        </p:nvSpPr>
        <p:spPr>
          <a:xfrm>
            <a:off x="9587255" y="3911067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HAS_LEARNING_OUTCOME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AB2EF983-F742-4F32-BEEA-AE4EB6C9A3AC}"/>
              </a:ext>
            </a:extLst>
          </p:cNvPr>
          <p:cNvSpPr/>
          <p:nvPr/>
        </p:nvSpPr>
        <p:spPr>
          <a:xfrm>
            <a:off x="6005850" y="1949693"/>
            <a:ext cx="0" cy="4023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3337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A200-FC1C-94AA-9BDA-B9A39010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BR" dirty="0"/>
              <a:t>raph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6AEE-DCC7-7B80-03B6-5C426610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866333"/>
            <a:ext cx="6332351" cy="4728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1600" dirty="0"/>
              <a:t>This is the schema I built before running the import.</a:t>
            </a:r>
          </a:p>
        </p:txBody>
      </p:sp>
      <p:pic>
        <p:nvPicPr>
          <p:cNvPr id="4" name="Image 0" descr="/mnt/data/docx_work/schema.png">
            <a:extLst>
              <a:ext uri="{FF2B5EF4-FFF2-40B4-BE49-F238E27FC236}">
                <a16:creationId xmlns:a16="http://schemas.microsoft.com/office/drawing/2014/main" id="{E7E4FA4D-6AC9-B362-922F-4AF9F3006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2212276"/>
            <a:ext cx="5875108" cy="4036639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2D0CC8C2-1C51-B326-952D-292E651C5148}"/>
              </a:ext>
            </a:extLst>
          </p:cNvPr>
          <p:cNvSpPr/>
          <p:nvPr/>
        </p:nvSpPr>
        <p:spPr>
          <a:xfrm>
            <a:off x="6965481" y="21450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How to read it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1727819-D86E-D39A-7C96-34B3F16A336A}"/>
              </a:ext>
            </a:extLst>
          </p:cNvPr>
          <p:cNvSpPr/>
          <p:nvPr/>
        </p:nvSpPr>
        <p:spPr>
          <a:xfrm>
            <a:off x="6965481" y="2137523"/>
            <a:ext cx="4693118" cy="25829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StudyProgram connects to Course.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Course connects to Topic.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Course connects to </a:t>
            </a:r>
            <a:r>
              <a:rPr lang="en-US" sz="2000" dirty="0" err="1">
                <a:solidFill>
                  <a:schemeClr val="tx2"/>
                </a:solidFill>
              </a:rPr>
              <a:t>LearningOutcome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</a:rPr>
              <a:t>StudyProgram</a:t>
            </a:r>
            <a:r>
              <a:rPr lang="en-US" sz="2000" dirty="0">
                <a:solidFill>
                  <a:schemeClr val="tx2"/>
                </a:solidFill>
              </a:rPr>
              <a:t> connects to </a:t>
            </a:r>
            <a:r>
              <a:rPr lang="en-US" sz="2000" dirty="0" err="1">
                <a:solidFill>
                  <a:schemeClr val="tx2"/>
                </a:solidFill>
              </a:rPr>
              <a:t>StudyField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17BC90F-42D4-9611-09D4-05402BEF706C}"/>
              </a:ext>
            </a:extLst>
          </p:cNvPr>
          <p:cNvSpPr/>
          <p:nvPr/>
        </p:nvSpPr>
        <p:spPr>
          <a:xfrm>
            <a:off x="7498882" y="3117609"/>
            <a:ext cx="3667075" cy="3180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43931C37-3C52-CD5C-3A5D-731842BEAC6B}"/>
              </a:ext>
            </a:extLst>
          </p:cNvPr>
          <p:cNvSpPr/>
          <p:nvPr/>
        </p:nvSpPr>
        <p:spPr>
          <a:xfrm>
            <a:off x="7498883" y="3602241"/>
            <a:ext cx="3667074" cy="22660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983D14C1-4660-890C-7507-D3BD9F0FD38C}"/>
              </a:ext>
            </a:extLst>
          </p:cNvPr>
          <p:cNvSpPr/>
          <p:nvPr/>
        </p:nvSpPr>
        <p:spPr>
          <a:xfrm>
            <a:off x="7206275" y="4274863"/>
            <a:ext cx="44523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8D955F8-10EA-D235-F18E-2737F0EACFC8}"/>
              </a:ext>
            </a:extLst>
          </p:cNvPr>
          <p:cNvSpPr/>
          <p:nvPr/>
        </p:nvSpPr>
        <p:spPr>
          <a:xfrm>
            <a:off x="6965481" y="4105699"/>
            <a:ext cx="469311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This screenshot proves that the schema was designed manually before importing.</a:t>
            </a:r>
          </a:p>
        </p:txBody>
      </p:sp>
    </p:spTree>
    <p:extLst>
      <p:ext uri="{BB962C8B-B14F-4D97-AF65-F5344CB8AC3E}">
        <p14:creationId xmlns:p14="http://schemas.microsoft.com/office/powerpoint/2010/main" val="256480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9672-6017-EEE4-2B3F-0658CFB1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BR" dirty="0"/>
              <a:t>mport into auradb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6AB14-3648-EB14-C666-A6ACD2CE3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608989"/>
            <a:ext cx="7101842" cy="4728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1600" dirty="0"/>
              <a:t>After mapping the schema, I ran the import in my AuraDB Free instance</a:t>
            </a:r>
          </a:p>
        </p:txBody>
      </p:sp>
      <p:pic>
        <p:nvPicPr>
          <p:cNvPr id="5" name="Image 0" descr="/mnt/data/docx_work/import_success.png">
            <a:extLst>
              <a:ext uri="{FF2B5EF4-FFF2-40B4-BE49-F238E27FC236}">
                <a16:creationId xmlns:a16="http://schemas.microsoft.com/office/drawing/2014/main" id="{26854AD5-9214-A24E-7D6A-B2F62ADC8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23" y="2082336"/>
            <a:ext cx="5044714" cy="4369082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21EEE124-33D0-B0CD-BF1A-D4ED25442B51}"/>
              </a:ext>
            </a:extLst>
          </p:cNvPr>
          <p:cNvSpPr/>
          <p:nvPr/>
        </p:nvSpPr>
        <p:spPr>
          <a:xfrm>
            <a:off x="6720839" y="20855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Import completed successfully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B8B27A-EA85-9510-1EAF-8811C1348E78}"/>
              </a:ext>
            </a:extLst>
          </p:cNvPr>
          <p:cNvSpPr/>
          <p:nvPr/>
        </p:nvSpPr>
        <p:spPr>
          <a:xfrm>
            <a:off x="6720837" y="2931380"/>
            <a:ext cx="455782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 import result confirms that the CSV files were processed and nodes were created in Neo4j. </a:t>
            </a:r>
            <a:r>
              <a:rPr lang="en-BR" sz="2000" dirty="0">
                <a:solidFill>
                  <a:schemeClr val="tx2"/>
                </a:solidFill>
              </a:rPr>
              <a:t>After the import was completed, I could finally see the dataset as a connected graph.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E2B9EE-80F0-D156-20CA-6830D2D3CBD0}"/>
              </a:ext>
            </a:extLst>
          </p:cNvPr>
          <p:cNvSpPr/>
          <p:nvPr/>
        </p:nvSpPr>
        <p:spPr>
          <a:xfrm>
            <a:off x="6720839" y="4527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640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A09E37-DA27-B79E-527B-682F0DB165FE}"/>
              </a:ext>
            </a:extLst>
          </p:cNvPr>
          <p:cNvSpPr/>
          <p:nvPr/>
        </p:nvSpPr>
        <p:spPr>
          <a:xfrm>
            <a:off x="7635239" y="462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Topic nodes created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57BA47-4D60-A436-377B-EF5B0096EB62}"/>
              </a:ext>
            </a:extLst>
          </p:cNvPr>
          <p:cNvSpPr/>
          <p:nvPr/>
        </p:nvSpPr>
        <p:spPr>
          <a:xfrm>
            <a:off x="6720839" y="5212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75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7E2259-81DF-6AC3-A61E-57AF8A4A7F60}"/>
              </a:ext>
            </a:extLst>
          </p:cNvPr>
          <p:cNvSpPr/>
          <p:nvPr/>
        </p:nvSpPr>
        <p:spPr>
          <a:xfrm>
            <a:off x="7635239" y="5304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Course nodes created</a:t>
            </a:r>
          </a:p>
        </p:txBody>
      </p:sp>
    </p:spTree>
    <p:extLst>
      <p:ext uri="{BB962C8B-B14F-4D97-AF65-F5344CB8AC3E}">
        <p14:creationId xmlns:p14="http://schemas.microsoft.com/office/powerpoint/2010/main" val="287061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2CE7-8C5A-1191-87B4-B06C3C51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</a:t>
            </a:r>
            <a:r>
              <a:rPr lang="en-BR" dirty="0"/>
              <a:t>uick validation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276E6-CA4F-DFEC-9289-C8754DCAC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617721"/>
            <a:ext cx="9246033" cy="4728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1600" dirty="0"/>
              <a:t>Before I analyze the graph, I checked wether all relationships types were present.</a:t>
            </a:r>
          </a:p>
        </p:txBody>
      </p:sp>
      <p:pic>
        <p:nvPicPr>
          <p:cNvPr id="4" name="Image 0" descr="/mnt/data/docx_work/relationships.png">
            <a:extLst>
              <a:ext uri="{FF2B5EF4-FFF2-40B4-BE49-F238E27FC236}">
                <a16:creationId xmlns:a16="http://schemas.microsoft.com/office/drawing/2014/main" id="{4E5AA071-C119-8AE3-3171-53644A430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5" y="2122910"/>
            <a:ext cx="3663412" cy="4223335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8F6F75A2-AD99-6B12-D925-0DE1C3F99D51}"/>
              </a:ext>
            </a:extLst>
          </p:cNvPr>
          <p:cNvSpPr/>
          <p:nvPr/>
        </p:nvSpPr>
        <p:spPr>
          <a:xfrm>
            <a:off x="5664630" y="212291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Relationship count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3D370CF-9AAA-9DB1-6234-4B7308AAB98A}"/>
              </a:ext>
            </a:extLst>
          </p:cNvPr>
          <p:cNvSpPr/>
          <p:nvPr/>
        </p:nvSpPr>
        <p:spPr>
          <a:xfrm>
            <a:off x="5664630" y="261211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640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E37DF49-24B6-9674-E61D-E187E3B2B596}"/>
              </a:ext>
            </a:extLst>
          </p:cNvPr>
          <p:cNvSpPr/>
          <p:nvPr/>
        </p:nvSpPr>
        <p:spPr>
          <a:xfrm>
            <a:off x="6670471" y="2682185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HAS_TOPIC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C4EF79C-F171-83DC-F7DE-5B2C85B5D1A2}"/>
              </a:ext>
            </a:extLst>
          </p:cNvPr>
          <p:cNvSpPr/>
          <p:nvPr/>
        </p:nvSpPr>
        <p:spPr>
          <a:xfrm>
            <a:off x="5664630" y="331620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366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8EA9239-21DC-64DF-87D9-296723DBFA5F}"/>
              </a:ext>
            </a:extLst>
          </p:cNvPr>
          <p:cNvSpPr/>
          <p:nvPr/>
        </p:nvSpPr>
        <p:spPr>
          <a:xfrm>
            <a:off x="6670470" y="339986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HAS_LEARNING_OUTCOME</a:t>
            </a: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6FE1055-2FB4-D733-6EA7-4A1693EED3B0}"/>
              </a:ext>
            </a:extLst>
          </p:cNvPr>
          <p:cNvSpPr/>
          <p:nvPr/>
        </p:nvSpPr>
        <p:spPr>
          <a:xfrm>
            <a:off x="5664630" y="402029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79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7732F5A-DFB8-6A0F-2ACD-B977A8F81A4D}"/>
              </a:ext>
            </a:extLst>
          </p:cNvPr>
          <p:cNvSpPr/>
          <p:nvPr/>
        </p:nvSpPr>
        <p:spPr>
          <a:xfrm>
            <a:off x="6670470" y="409286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HAS_COURSE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F4C47C1-D9D7-C392-D84D-6921B66D8F0F}"/>
              </a:ext>
            </a:extLst>
          </p:cNvPr>
          <p:cNvSpPr/>
          <p:nvPr/>
        </p:nvSpPr>
        <p:spPr>
          <a:xfrm>
            <a:off x="5664630" y="472437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373B619-E63E-F948-F989-52371A1C47F8}"/>
              </a:ext>
            </a:extLst>
          </p:cNvPr>
          <p:cNvSpPr/>
          <p:nvPr/>
        </p:nvSpPr>
        <p:spPr>
          <a:xfrm>
            <a:off x="6670470" y="4808043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HAS_STUDY_FIELD</a:t>
            </a: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28DC342-0E4E-A997-E925-873E8813D860}"/>
              </a:ext>
            </a:extLst>
          </p:cNvPr>
          <p:cNvSpPr/>
          <p:nvPr/>
        </p:nvSpPr>
        <p:spPr>
          <a:xfrm>
            <a:off x="5664630" y="5428466"/>
            <a:ext cx="619234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I had to correct the Course → LearningOutcome mapping once. After fixing it, the 366 relationships appeared correctly.</a:t>
            </a:r>
          </a:p>
        </p:txBody>
      </p:sp>
    </p:spTree>
    <p:extLst>
      <p:ext uri="{BB962C8B-B14F-4D97-AF65-F5344CB8AC3E}">
        <p14:creationId xmlns:p14="http://schemas.microsoft.com/office/powerpoint/2010/main" val="211284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1934-9DCB-89E8-A3E3-FEE41B41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</a:t>
            </a:r>
            <a:r>
              <a:rPr lang="en-BR" dirty="0"/>
              <a:t>uery 1 – course per programme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5298-0593-066C-C4CA-D0B2CD7F3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748474"/>
            <a:ext cx="8269639" cy="472852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This query answers a simple question: how many courses does each </a:t>
            </a:r>
            <a:r>
              <a:rPr lang="en-US" sz="1600" dirty="0" err="1"/>
              <a:t>programme</a:t>
            </a:r>
            <a:r>
              <a:rPr lang="en-US" sz="1600" dirty="0"/>
              <a:t> have?</a:t>
            </a:r>
          </a:p>
          <a:p>
            <a:pPr marL="0" indent="0">
              <a:buNone/>
            </a:pPr>
            <a:endParaRPr lang="en-BR" dirty="0"/>
          </a:p>
        </p:txBody>
      </p:sp>
      <p:pic>
        <p:nvPicPr>
          <p:cNvPr id="4" name="Image 0" descr="/mnt/data/docx_work/query1.png">
            <a:extLst>
              <a:ext uri="{FF2B5EF4-FFF2-40B4-BE49-F238E27FC236}">
                <a16:creationId xmlns:a16="http://schemas.microsoft.com/office/drawing/2014/main" id="{325C245E-BC10-9784-A24D-5A92324C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72" y="2236081"/>
            <a:ext cx="5187182" cy="3871032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BB0B4ED4-F4F1-5340-020F-626752962E3E}"/>
              </a:ext>
            </a:extLst>
          </p:cNvPr>
          <p:cNvSpPr/>
          <p:nvPr/>
        </p:nvSpPr>
        <p:spPr>
          <a:xfrm>
            <a:off x="6562757" y="2236081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Main result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337795B-0E1F-C410-B2A9-0829792803E3}"/>
              </a:ext>
            </a:extLst>
          </p:cNvPr>
          <p:cNvSpPr/>
          <p:nvPr/>
        </p:nvSpPr>
        <p:spPr>
          <a:xfrm>
            <a:off x="6562757" y="2876161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50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70CA617-8596-D3D2-8CA8-5EC6C3F5DA0C}"/>
              </a:ext>
            </a:extLst>
          </p:cNvPr>
          <p:cNvSpPr/>
          <p:nvPr/>
        </p:nvSpPr>
        <p:spPr>
          <a:xfrm>
            <a:off x="7248555" y="2975999"/>
            <a:ext cx="3794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Digital Humanities courses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06B1BC7-AFBD-05FF-4CE1-CD0CD97F530D}"/>
              </a:ext>
            </a:extLst>
          </p:cNvPr>
          <p:cNvSpPr/>
          <p:nvPr/>
        </p:nvSpPr>
        <p:spPr>
          <a:xfrm>
            <a:off x="6562757" y="3561961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29</a:t>
            </a:r>
            <a:endParaRPr lang="en-US" sz="3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CBF911C1-1FC7-40D2-EF40-BCBDF06A849B}"/>
              </a:ext>
            </a:extLst>
          </p:cNvPr>
          <p:cNvSpPr/>
          <p:nvPr/>
        </p:nvSpPr>
        <p:spPr>
          <a:xfrm>
            <a:off x="7248556" y="3670125"/>
            <a:ext cx="3794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Business Informatics courses</a:t>
            </a: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646D1E3-A4AD-4A4B-EEFD-6407994E0D34}"/>
              </a:ext>
            </a:extLst>
          </p:cNvPr>
          <p:cNvSpPr/>
          <p:nvPr/>
        </p:nvSpPr>
        <p:spPr>
          <a:xfrm>
            <a:off x="6562756" y="4218765"/>
            <a:ext cx="4480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In this dataset, Digital Humanities has the larger course structure.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1EC7AE7-418B-72E5-1135-3D1A1DB27340}"/>
              </a:ext>
            </a:extLst>
          </p:cNvPr>
          <p:cNvSpPr/>
          <p:nvPr/>
        </p:nvSpPr>
        <p:spPr>
          <a:xfrm>
            <a:off x="6562756" y="5104169"/>
            <a:ext cx="4802925" cy="853647"/>
          </a:xfrm>
          <a:prstGeom prst="roundRect">
            <a:avLst>
              <a:gd name="adj" fmla="val 641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BR" dirty="0">
              <a:solidFill>
                <a:schemeClr val="tx2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D4437DE-6A0E-9085-9317-3927B9189DE9}"/>
              </a:ext>
            </a:extLst>
          </p:cNvPr>
          <p:cNvSpPr/>
          <p:nvPr/>
        </p:nvSpPr>
        <p:spPr>
          <a:xfrm>
            <a:off x="6727348" y="5232186"/>
            <a:ext cx="4559396" cy="5472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MATCH (p:StudyProgram)-[:HAS_COURSE]-&gt;(c:Course)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 p.title AS programme, count(c) AS numberOfCourses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ORDER BY numberOfCourses DESC;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9545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B13A-6645-9873-4EE8-62EBDEE6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</a:t>
            </a:r>
            <a:r>
              <a:rPr lang="en-BR" dirty="0"/>
              <a:t>uery 2 – courses with the most topics</a:t>
            </a:r>
            <a:br>
              <a:rPr lang="en-BR" dirty="0"/>
            </a:b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A115-50EE-CA46-092A-CE7B6C058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7696202" cy="4728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1600" dirty="0"/>
              <a:t>This helped me see which courses have more learning outcomes attached to them.</a:t>
            </a:r>
          </a:p>
        </p:txBody>
      </p:sp>
      <p:pic>
        <p:nvPicPr>
          <p:cNvPr id="4" name="Image 0" descr="/mnt/data/docx_work/query2.png">
            <a:extLst>
              <a:ext uri="{FF2B5EF4-FFF2-40B4-BE49-F238E27FC236}">
                <a16:creationId xmlns:a16="http://schemas.microsoft.com/office/drawing/2014/main" id="{3E8201C4-8B1B-4275-A245-9AF82155A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29" y="2247898"/>
            <a:ext cx="5074920" cy="4229100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950A015C-F7A7-8618-B8EF-6F6624D8A82A}"/>
              </a:ext>
            </a:extLst>
          </p:cNvPr>
          <p:cNvSpPr/>
          <p:nvPr/>
        </p:nvSpPr>
        <p:spPr>
          <a:xfrm>
            <a:off x="6444763" y="224789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</a:rPr>
              <a:t>What stood out</a:t>
            </a:r>
            <a:endParaRPr lang="en-US" sz="2300" dirty="0">
              <a:solidFill>
                <a:schemeClr val="tx2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9E02C1D-E8F2-EE63-5A4D-3815075983FD}"/>
              </a:ext>
            </a:extLst>
          </p:cNvPr>
          <p:cNvSpPr/>
          <p:nvPr/>
        </p:nvSpPr>
        <p:spPr>
          <a:xfrm>
            <a:off x="6490483" y="286054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•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565F201-1000-B353-6227-0007C710CCE4}"/>
              </a:ext>
            </a:extLst>
          </p:cNvPr>
          <p:cNvSpPr/>
          <p:nvPr/>
        </p:nvSpPr>
        <p:spPr>
          <a:xfrm>
            <a:off x="6783091" y="3045482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Introduction to Knowledge Society Technology has 20 topics.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9DFAA4D-AFAF-1DA9-DFB0-1CF9FCEBE900}"/>
              </a:ext>
            </a:extLst>
          </p:cNvPr>
          <p:cNvSpPr/>
          <p:nvPr/>
        </p:nvSpPr>
        <p:spPr>
          <a:xfrm>
            <a:off x="6490483" y="356463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•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CF54B60-78E2-CC90-7629-B1AE1F2493F2}"/>
              </a:ext>
            </a:extLst>
          </p:cNvPr>
          <p:cNvSpPr/>
          <p:nvPr/>
        </p:nvSpPr>
        <p:spPr>
          <a:xfrm>
            <a:off x="6741763" y="3558224"/>
            <a:ext cx="4754880" cy="4338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Digital Textuality: Interdisciplinary Approach has 19.</a:t>
            </a: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A679496-7291-A98C-BFF0-529C9DFA05BA}"/>
              </a:ext>
            </a:extLst>
          </p:cNvPr>
          <p:cNvSpPr/>
          <p:nvPr/>
        </p:nvSpPr>
        <p:spPr>
          <a:xfrm>
            <a:off x="6490483" y="426872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•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423704-FB7B-A77F-0F56-2BDD19324127}"/>
              </a:ext>
            </a:extLst>
          </p:cNvPr>
          <p:cNvSpPr/>
          <p:nvPr/>
        </p:nvSpPr>
        <p:spPr>
          <a:xfrm>
            <a:off x="6741763" y="4268723"/>
            <a:ext cx="4754880" cy="5276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Audio and Video Data Processing also has 19.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2C3D439-32CC-68D5-6200-E9BFDCDF76DF}"/>
              </a:ext>
            </a:extLst>
          </p:cNvPr>
          <p:cNvSpPr/>
          <p:nvPr/>
        </p:nvSpPr>
        <p:spPr>
          <a:xfrm>
            <a:off x="6490483" y="5094287"/>
            <a:ext cx="51681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BR" sz="2000" dirty="0">
                <a:solidFill>
                  <a:schemeClr val="tx2"/>
                </a:solidFill>
              </a:rPr>
              <a:t>For me, this suggests that these courses cover more topics or divide the content into smaller parts.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21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245D-9FB8-29D3-70CD-E96D2AEA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658602" cy="746759"/>
          </a:xfrm>
        </p:spPr>
        <p:txBody>
          <a:bodyPr>
            <a:noAutofit/>
          </a:bodyPr>
          <a:lstStyle/>
          <a:p>
            <a:r>
              <a:rPr lang="en-US" sz="2980" dirty="0"/>
              <a:t>Q</a:t>
            </a:r>
            <a:r>
              <a:rPr lang="en-BR" sz="2980" dirty="0"/>
              <a:t>uery 3 – courses with the most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5E76A-6717-0EE9-0E6B-A00BD5D14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824708"/>
            <a:ext cx="6611321" cy="472852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This query shows where the most learning outcomes are attached.</a:t>
            </a:r>
          </a:p>
          <a:p>
            <a:endParaRPr lang="en-BR" dirty="0"/>
          </a:p>
        </p:txBody>
      </p:sp>
      <p:pic>
        <p:nvPicPr>
          <p:cNvPr id="4" name="Image 0" descr="/mnt/data/docx_work/query3.png">
            <a:extLst>
              <a:ext uri="{FF2B5EF4-FFF2-40B4-BE49-F238E27FC236}">
                <a16:creationId xmlns:a16="http://schemas.microsoft.com/office/drawing/2014/main" id="{109BB8D6-79DF-12AB-93C5-D04F3AB73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29" y="2256729"/>
            <a:ext cx="4909864" cy="4284097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82504492-2AEE-DA49-8864-94A740B95B50}"/>
              </a:ext>
            </a:extLst>
          </p:cNvPr>
          <p:cNvSpPr/>
          <p:nvPr/>
        </p:nvSpPr>
        <p:spPr>
          <a:xfrm>
            <a:off x="6473126" y="2256729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</a:rPr>
              <a:t>Top results</a:t>
            </a:r>
            <a:endParaRPr lang="en-US" sz="2300" dirty="0">
              <a:solidFill>
                <a:schemeClr val="tx2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83669CE2-7E5C-0CEA-CC25-F1B40EFEF7B2}"/>
              </a:ext>
            </a:extLst>
          </p:cNvPr>
          <p:cNvSpPr/>
          <p:nvPr/>
        </p:nvSpPr>
        <p:spPr>
          <a:xfrm>
            <a:off x="6490483" y="277453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•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A4D8308-554E-CE7A-68C1-8FCA652F8ED9}"/>
              </a:ext>
            </a:extLst>
          </p:cNvPr>
          <p:cNvSpPr/>
          <p:nvPr/>
        </p:nvSpPr>
        <p:spPr>
          <a:xfrm>
            <a:off x="6783091" y="2774534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Master Thesis has 11 learning outcomes.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39A1319-93B7-0CA5-AB2F-4270DF171DA7}"/>
              </a:ext>
            </a:extLst>
          </p:cNvPr>
          <p:cNvSpPr/>
          <p:nvPr/>
        </p:nvSpPr>
        <p:spPr>
          <a:xfrm>
            <a:off x="6473126" y="3216464"/>
            <a:ext cx="117010" cy="737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•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454B707-BF1D-9844-22BD-ADFA2CB121B4}"/>
              </a:ext>
            </a:extLst>
          </p:cNvPr>
          <p:cNvSpPr/>
          <p:nvPr/>
        </p:nvSpPr>
        <p:spPr>
          <a:xfrm>
            <a:off x="6783091" y="3543108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Artificial Intelligence in Humanities also has 11.</a:t>
            </a: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A302DD7-05A9-526F-2BC0-7DB7EB4C3EE5}"/>
              </a:ext>
            </a:extLst>
          </p:cNvPr>
          <p:cNvSpPr/>
          <p:nvPr/>
        </p:nvSpPr>
        <p:spPr>
          <a:xfrm>
            <a:off x="6490483" y="4080704"/>
            <a:ext cx="154983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•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0C2E67A-985C-A970-FAEA-082EB0DC6D59}"/>
              </a:ext>
            </a:extLst>
          </p:cNvPr>
          <p:cNvSpPr/>
          <p:nvPr/>
        </p:nvSpPr>
        <p:spPr>
          <a:xfrm>
            <a:off x="6830386" y="4281232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Communication and Presentation Skills has 10.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1B64CFA-0635-737C-43A5-893D998F7209}"/>
              </a:ext>
            </a:extLst>
          </p:cNvPr>
          <p:cNvSpPr/>
          <p:nvPr/>
        </p:nvSpPr>
        <p:spPr>
          <a:xfrm>
            <a:off x="6590136" y="4951762"/>
            <a:ext cx="46634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chemeClr val="tx2"/>
                </a:solidFill>
              </a:rPr>
              <a:t>This makes it easy to spot courses with a larger number of explicitly described objectives.</a:t>
            </a:r>
          </a:p>
        </p:txBody>
      </p:sp>
    </p:spTree>
    <p:extLst>
      <p:ext uri="{BB962C8B-B14F-4D97-AF65-F5344CB8AC3E}">
        <p14:creationId xmlns:p14="http://schemas.microsoft.com/office/powerpoint/2010/main" val="2427226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7167-FB81-3A86-BDD5-E92529B2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</a:t>
            </a:r>
            <a:r>
              <a:rPr lang="en-BR" dirty="0"/>
              <a:t>uery 4 – course load and average credits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23DE-5466-D546-DAAF-F4C1FA63D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This query compares </a:t>
            </a:r>
            <a:r>
              <a:rPr lang="en-US" sz="1600" dirty="0" err="1"/>
              <a:t>programme</a:t>
            </a:r>
            <a:r>
              <a:rPr lang="en-US" sz="1600" dirty="0"/>
              <a:t> size with average course credits.</a:t>
            </a:r>
          </a:p>
          <a:p>
            <a:pPr marL="0" indent="0">
              <a:buNone/>
            </a:pPr>
            <a:endParaRPr lang="en-BR" dirty="0"/>
          </a:p>
        </p:txBody>
      </p:sp>
      <p:pic>
        <p:nvPicPr>
          <p:cNvPr id="5" name="Image 0" descr="/mnt/data/image(20261007-145304).png">
            <a:extLst>
              <a:ext uri="{FF2B5EF4-FFF2-40B4-BE49-F238E27FC236}">
                <a16:creationId xmlns:a16="http://schemas.microsoft.com/office/drawing/2014/main" id="{056D506D-71A5-4AC4-6207-D522009B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03" y="2215274"/>
            <a:ext cx="6626777" cy="378257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86909B2F-F865-4A1F-ED15-79D7F2B1FA1B}"/>
              </a:ext>
            </a:extLst>
          </p:cNvPr>
          <p:cNvSpPr/>
          <p:nvPr/>
        </p:nvSpPr>
        <p:spPr>
          <a:xfrm>
            <a:off x="7575315" y="2175193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</a:rPr>
              <a:t>A useful comparison</a:t>
            </a:r>
            <a:endParaRPr lang="en-US" sz="2300" dirty="0">
              <a:solidFill>
                <a:schemeClr val="tx2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15256E-4033-50CA-C772-607600B44508}"/>
              </a:ext>
            </a:extLst>
          </p:cNvPr>
          <p:cNvSpPr/>
          <p:nvPr/>
        </p:nvSpPr>
        <p:spPr>
          <a:xfrm>
            <a:off x="7575315" y="3135660"/>
            <a:ext cx="4083284" cy="1671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Digital Humanities has more courses, but the average credit value is lower.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Business Informatics has fewer courses, but the average credit value is higher.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E7BF18-0EC2-5DA8-D452-B4ABD06AC8AC}"/>
              </a:ext>
            </a:extLst>
          </p:cNvPr>
          <p:cNvSpPr/>
          <p:nvPr/>
        </p:nvSpPr>
        <p:spPr>
          <a:xfrm>
            <a:off x="7575315" y="3404344"/>
            <a:ext cx="3794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850" dirty="0">
              <a:solidFill>
                <a:schemeClr val="tx2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B39216-CD5F-0318-76A9-F4505A334280}"/>
              </a:ext>
            </a:extLst>
          </p:cNvPr>
          <p:cNvSpPr/>
          <p:nvPr/>
        </p:nvSpPr>
        <p:spPr>
          <a:xfrm>
            <a:off x="7575315" y="5267025"/>
            <a:ext cx="39776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chemeClr val="tx2"/>
                </a:solidFill>
              </a:rPr>
              <a:t>Digital Humanities: 50 courses, 4.56 avg credits</a:t>
            </a:r>
            <a:endParaRPr lang="en-US" sz="175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50" b="1" dirty="0">
                <a:solidFill>
                  <a:schemeClr val="tx2"/>
                </a:solidFill>
              </a:rPr>
              <a:t>Business Informatics: 29 courses, 6.31 avg credits</a:t>
            </a:r>
            <a:endParaRPr lang="en-US" sz="175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119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80D76-DD85-917C-2429-5F39D760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conclusion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1B319-4BA4-3FB7-4A6A-6D699B335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R" sz="2000" dirty="0"/>
              <a:t>This was my first time working with Neo4j, so at the beginning I found the nodes, relationships and ID mappings quite confusing. After building the graph and fixing some mapping mistakes, I understood much better how the different CSV files were connected. </a:t>
            </a:r>
          </a:p>
          <a:p>
            <a:r>
              <a:rPr lang="en-BR" sz="2000" dirty="0"/>
              <a:t>The results also made the dataset easier for me to understand. I could see that Digital Humanities has more courses, while Business Informatics has a higher average number of credits per course. I was also able to see which courses had the most topics and learning outcomes. </a:t>
            </a:r>
          </a:p>
          <a:p>
            <a:r>
              <a:rPr lang="en-BR" sz="2000" dirty="0"/>
              <a:t>For me, the most useful part of the assignment was seeing how separate CSV files could become one connected graph that I could explore with queries.</a:t>
            </a:r>
          </a:p>
        </p:txBody>
      </p:sp>
    </p:spTree>
    <p:extLst>
      <p:ext uri="{BB962C8B-B14F-4D97-AF65-F5344CB8AC3E}">
        <p14:creationId xmlns:p14="http://schemas.microsoft.com/office/powerpoint/2010/main" val="1006004470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173</TotalTime>
  <Words>824</Words>
  <Application>Microsoft Macintosh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 Display</vt:lpstr>
      <vt:lpstr>Aptos Mono</vt:lpstr>
      <vt:lpstr>Arial</vt:lpstr>
      <vt:lpstr>Modulo</vt:lpstr>
      <vt:lpstr>KMS Dataset Knowledge Graph </vt:lpstr>
      <vt:lpstr>Introduction</vt:lpstr>
      <vt:lpstr>objectives</vt:lpstr>
      <vt:lpstr>Dataset and maping idea</vt:lpstr>
      <vt:lpstr>Graph schema</vt:lpstr>
      <vt:lpstr>Import into auradb</vt:lpstr>
      <vt:lpstr>Quick validation check</vt:lpstr>
      <vt:lpstr>Query 1 – course per programme</vt:lpstr>
      <vt:lpstr>Query 2 – courses with the most topics </vt:lpstr>
      <vt:lpstr>Query 3 – courses with the most learning outcomes</vt:lpstr>
      <vt:lpstr>Query 4 – course load and average credits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NILZELLY CAROLINE MARTINS DA SILVA</dc:creator>
  <cp:lastModifiedBy>NILZELLY CAROLINE MARTINS DA SILVA</cp:lastModifiedBy>
  <cp:revision>3</cp:revision>
  <dcterms:created xsi:type="dcterms:W3CDTF">2026-10-07T15:41:33Z</dcterms:created>
  <dcterms:modified xsi:type="dcterms:W3CDTF">2026-10-07T18:34:58Z</dcterms:modified>
</cp:coreProperties>
</file>